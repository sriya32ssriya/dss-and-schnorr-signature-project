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uce Bold Italics" charset="1" panose="00000800000000000000"/>
      <p:regular r:id="rId13"/>
    </p:embeddedFont>
    <p:embeddedFont>
      <p:font typeface="Open Sauce Bold" charset="1" panose="00000800000000000000"/>
      <p:regular r:id="rId14"/>
    </p:embeddedFont>
    <p:embeddedFont>
      <p:font typeface="Raleway Italics" charset="1" panose="00000000000000000000"/>
      <p:regular r:id="rId15"/>
    </p:embeddedFont>
    <p:embeddedFont>
      <p:font typeface="Raleway" charset="1" panose="00000000000000000000"/>
      <p:regular r:id="rId16"/>
    </p:embeddedFont>
    <p:embeddedFont>
      <p:font typeface="Raleway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80380" y="2284090"/>
            <a:ext cx="9985498" cy="394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54"/>
              </a:lnSpc>
            </a:pPr>
            <a:r>
              <a:rPr lang="en-US" b="true" sz="15623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Mini project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560514" y="6028319"/>
            <a:ext cx="6425306" cy="4285752"/>
          </a:xfrm>
          <a:custGeom>
            <a:avLst/>
            <a:gdLst/>
            <a:ahLst/>
            <a:cxnLst/>
            <a:rect r="r" b="b" t="t" l="l"/>
            <a:pathLst>
              <a:path h="4285752" w="6425306">
                <a:moveTo>
                  <a:pt x="0" y="0"/>
                </a:moveTo>
                <a:lnTo>
                  <a:pt x="6425306" y="0"/>
                </a:lnTo>
                <a:lnTo>
                  <a:pt x="6425306" y="4285752"/>
                </a:lnTo>
                <a:lnTo>
                  <a:pt x="0" y="4285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69495" y="-557212"/>
            <a:ext cx="6362316" cy="4638707"/>
          </a:xfrm>
          <a:custGeom>
            <a:avLst/>
            <a:gdLst/>
            <a:ahLst/>
            <a:cxnLst/>
            <a:rect r="r" b="b" t="t" l="l"/>
            <a:pathLst>
              <a:path h="4638707" w="6362316">
                <a:moveTo>
                  <a:pt x="0" y="0"/>
                </a:moveTo>
                <a:lnTo>
                  <a:pt x="6362316" y="0"/>
                </a:lnTo>
                <a:lnTo>
                  <a:pt x="6362316" y="4638706"/>
                </a:lnTo>
                <a:lnTo>
                  <a:pt x="0" y="463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26" y="7615688"/>
            <a:ext cx="3794775" cy="3311803"/>
          </a:xfrm>
          <a:custGeom>
            <a:avLst/>
            <a:gdLst/>
            <a:ahLst/>
            <a:cxnLst/>
            <a:rect r="r" b="b" t="t" l="l"/>
            <a:pathLst>
              <a:path h="3311803" w="3794775">
                <a:moveTo>
                  <a:pt x="0" y="0"/>
                </a:moveTo>
                <a:lnTo>
                  <a:pt x="3794775" y="0"/>
                </a:lnTo>
                <a:lnTo>
                  <a:pt x="3794775" y="3311804"/>
                </a:lnTo>
                <a:lnTo>
                  <a:pt x="0" y="3311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49747" y="-819150"/>
            <a:ext cx="4636730" cy="3781841"/>
          </a:xfrm>
          <a:custGeom>
            <a:avLst/>
            <a:gdLst/>
            <a:ahLst/>
            <a:cxnLst/>
            <a:rect r="r" b="b" t="t" l="l"/>
            <a:pathLst>
              <a:path h="3781841" w="4636730">
                <a:moveTo>
                  <a:pt x="0" y="0"/>
                </a:moveTo>
                <a:lnTo>
                  <a:pt x="4636730" y="0"/>
                </a:lnTo>
                <a:lnTo>
                  <a:pt x="4636730" y="3781841"/>
                </a:lnTo>
                <a:lnTo>
                  <a:pt x="0" y="37818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545033" y="6593719"/>
            <a:ext cx="9985498" cy="2091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b="true" sz="2799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Roll no -</a:t>
            </a:r>
          </a:p>
          <a:p>
            <a:pPr algn="ctr">
              <a:lnSpc>
                <a:spcPts val="2715"/>
              </a:lnSpc>
            </a:pPr>
            <a:r>
              <a:rPr lang="en-US" b="true" sz="2799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                         24030</a:t>
            </a:r>
          </a:p>
          <a:p>
            <a:pPr algn="ctr">
              <a:lnSpc>
                <a:spcPts val="2715"/>
              </a:lnSpc>
            </a:pPr>
            <a:r>
              <a:rPr lang="en-US" b="true" sz="2799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                        24031</a:t>
            </a:r>
          </a:p>
          <a:p>
            <a:pPr algn="ctr">
              <a:lnSpc>
                <a:spcPts val="2715"/>
              </a:lnSpc>
            </a:pPr>
            <a:r>
              <a:rPr lang="en-US" b="true" sz="2799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                        24032</a:t>
            </a:r>
          </a:p>
          <a:p>
            <a:pPr algn="ctr">
              <a:lnSpc>
                <a:spcPts val="2715"/>
              </a:lnSpc>
            </a:pPr>
            <a:r>
              <a:rPr lang="en-US" b="true" sz="2799" i="true">
                <a:solidFill>
                  <a:srgbClr val="1E396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                       24033</a:t>
            </a:r>
          </a:p>
          <a:p>
            <a:pPr algn="ctr">
              <a:lnSpc>
                <a:spcPts val="2715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43729" y="-654058"/>
            <a:ext cx="3802045" cy="3000160"/>
          </a:xfrm>
          <a:custGeom>
            <a:avLst/>
            <a:gdLst/>
            <a:ahLst/>
            <a:cxnLst/>
            <a:rect r="r" b="b" t="t" l="l"/>
            <a:pathLst>
              <a:path h="3000160" w="3802045">
                <a:moveTo>
                  <a:pt x="0" y="0"/>
                </a:moveTo>
                <a:lnTo>
                  <a:pt x="3802046" y="0"/>
                </a:lnTo>
                <a:lnTo>
                  <a:pt x="3802046" y="3000159"/>
                </a:lnTo>
                <a:lnTo>
                  <a:pt x="0" y="3000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60193" y="-1416968"/>
            <a:ext cx="3926005" cy="4036080"/>
          </a:xfrm>
          <a:custGeom>
            <a:avLst/>
            <a:gdLst/>
            <a:ahLst/>
            <a:cxnLst/>
            <a:rect r="r" b="b" t="t" l="l"/>
            <a:pathLst>
              <a:path h="4036080" w="3926005">
                <a:moveTo>
                  <a:pt x="0" y="0"/>
                </a:moveTo>
                <a:lnTo>
                  <a:pt x="3926005" y="0"/>
                </a:lnTo>
                <a:lnTo>
                  <a:pt x="3926005" y="4036080"/>
                </a:lnTo>
                <a:lnTo>
                  <a:pt x="0" y="4036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641051" y="8288174"/>
            <a:ext cx="2996690" cy="1998826"/>
          </a:xfrm>
          <a:custGeom>
            <a:avLst/>
            <a:gdLst/>
            <a:ahLst/>
            <a:cxnLst/>
            <a:rect r="r" b="b" t="t" l="l"/>
            <a:pathLst>
              <a:path h="1998826" w="2996690">
                <a:moveTo>
                  <a:pt x="2996690" y="0"/>
                </a:moveTo>
                <a:lnTo>
                  <a:pt x="0" y="0"/>
                </a:lnTo>
                <a:lnTo>
                  <a:pt x="0" y="1998826"/>
                </a:lnTo>
                <a:lnTo>
                  <a:pt x="2996690" y="1998826"/>
                </a:lnTo>
                <a:lnTo>
                  <a:pt x="299669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72892" y="218544"/>
            <a:ext cx="7839014" cy="1977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7"/>
              </a:lnSpc>
            </a:pPr>
            <a:r>
              <a:rPr lang="en-US" sz="7842" b="true">
                <a:solidFill>
                  <a:srgbClr val="1E396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is the project?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7258" y="2269901"/>
            <a:ext cx="16413489" cy="6786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7"/>
              </a:lnSpc>
            </a:pPr>
            <a:r>
              <a:rPr lang="en-US" sz="3447" i="true" spc="37">
                <a:solidFill>
                  <a:srgbClr val="1E396E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Our project is about understanding and comparing two digital signature methods — the Digital Signature Standard, or DSS, and the Schnorr Signature in a simplified ‘toy’ version. The main goal is to show how digital signatures help verify the authenticity of digital messages and documents.</a:t>
            </a:r>
          </a:p>
          <a:p>
            <a:pPr algn="l">
              <a:lnSpc>
                <a:spcPts val="4827"/>
              </a:lnSpc>
            </a:pPr>
            <a:r>
              <a:rPr lang="en-US" sz="3447" i="true" spc="37">
                <a:solidFill>
                  <a:srgbClr val="1E396E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We used smaller, easy-to-follow examples to explain how these signatures are created and verified.</a:t>
            </a:r>
          </a:p>
          <a:p>
            <a:pPr algn="l">
              <a:lnSpc>
                <a:spcPts val="4827"/>
              </a:lnSpc>
            </a:pPr>
            <a:r>
              <a:rPr lang="en-US" sz="3447" i="true" spc="37">
                <a:solidFill>
                  <a:srgbClr val="1E396E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Digital signatures are really useful because they provide data integrity, meaning the message hasn’t been changed; authentication, so we know who actually sent it; and non-repudiation, which means the sender can’t deny signing it later.</a:t>
            </a:r>
          </a:p>
          <a:p>
            <a:pPr algn="l">
              <a:lnSpc>
                <a:spcPts val="4827"/>
              </a:lnSpc>
            </a:pPr>
            <a:r>
              <a:rPr lang="en-US" sz="3447" i="true" spc="37">
                <a:solidFill>
                  <a:srgbClr val="1E396E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They’re widely used in secure emails, online transactions, e-commerce, and software updates, helping to make digital communication safe and trustworthy</a:t>
            </a:r>
          </a:p>
          <a:p>
            <a:pPr algn="ctr">
              <a:lnSpc>
                <a:spcPts val="16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86954" y="133350"/>
            <a:ext cx="9936673" cy="230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3"/>
              </a:lnSpc>
            </a:pPr>
            <a:r>
              <a:rPr lang="en-US" sz="6158" b="true">
                <a:solidFill>
                  <a:srgbClr val="1E396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tech stack  is  used?</a:t>
            </a:r>
          </a:p>
          <a:p>
            <a:pPr algn="ctr">
              <a:lnSpc>
                <a:spcPts val="597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631632" y="1667752"/>
            <a:ext cx="13798308" cy="10571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0915" indent="-250458" lvl="1">
              <a:lnSpc>
                <a:spcPts val="3248"/>
              </a:lnSpc>
              <a:buFont typeface="Arial"/>
              <a:buChar char="•"/>
            </a:pPr>
            <a:r>
              <a:rPr lang="en-US" sz="2320" spc="25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Developed an interactive web-based simulator to demonstrate the working of Digital Signature Algorithm (DSA) and Schnorr Signature (toy version).</a:t>
            </a:r>
          </a:p>
          <a:p>
            <a:pPr algn="l" marL="500915" indent="-250458" lvl="1">
              <a:lnSpc>
                <a:spcPts val="3248"/>
              </a:lnSpc>
              <a:buFont typeface="Arial"/>
              <a:buChar char="•"/>
            </a:pPr>
            <a:r>
              <a:rPr lang="en-US" sz="2320" spc="25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Built entirely using HTML, CSS, and JavaScript  — a fully client-side application with no backend.</a:t>
            </a:r>
          </a:p>
          <a:p>
            <a:pPr algn="l" marL="500915" indent="-250458" lvl="1">
              <a:lnSpc>
                <a:spcPts val="3248"/>
              </a:lnSpc>
              <a:buFont typeface="Arial"/>
              <a:buChar char="•"/>
            </a:pPr>
            <a:r>
              <a:rPr lang="en-US" sz="2320" spc="25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HTML5 defines the interface structure with separate modules for key generation, signing, and verification.</a:t>
            </a:r>
          </a:p>
          <a:p>
            <a:pPr algn="l" marL="500915" indent="-250458" lvl="1">
              <a:lnSpc>
                <a:spcPts val="3248"/>
              </a:lnSpc>
              <a:buFont typeface="Arial"/>
              <a:buChar char="•"/>
            </a:pPr>
            <a:r>
              <a:rPr lang="en-US" sz="2320" spc="25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CSS ensures a clean, consistent, and responsive design with proper spacing, alignment, and visual hierarchy.</a:t>
            </a:r>
          </a:p>
          <a:p>
            <a:pPr algn="l" marL="500915" indent="-250458" lvl="1">
              <a:lnSpc>
                <a:spcPts val="3248"/>
              </a:lnSpc>
              <a:buFont typeface="Arial"/>
              <a:buChar char="•"/>
            </a:pPr>
            <a:r>
              <a:rPr lang="en-US" sz="2320" spc="25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JavaScript (ES6) handles the cryptographic logic, including:</a:t>
            </a:r>
          </a:p>
          <a:p>
            <a:pPr algn="l" marL="1001831" indent="-333944" lvl="2">
              <a:lnSpc>
                <a:spcPts val="3248"/>
              </a:lnSpc>
              <a:buFont typeface="Arial"/>
              <a:buChar char="⚬"/>
            </a:pPr>
            <a:r>
              <a:rPr lang="en-US" sz="2320" spc="25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Modular exponentiation and modular inverse calculations</a:t>
            </a:r>
          </a:p>
          <a:p>
            <a:pPr algn="l" marL="1001831" indent="-333944" lvl="2">
              <a:lnSpc>
                <a:spcPts val="3248"/>
              </a:lnSpc>
              <a:buFont typeface="Arial"/>
              <a:buChar char="⚬"/>
            </a:pPr>
            <a:r>
              <a:rPr lang="en-US" sz="2320" spc="25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Arithmetic operations using Big Int for large numerical accuracy</a:t>
            </a:r>
          </a:p>
          <a:p>
            <a:pPr algn="l" marL="1001831" indent="-333944" lvl="2">
              <a:lnSpc>
                <a:spcPts val="3248"/>
              </a:lnSpc>
              <a:buFont typeface="Arial"/>
              <a:buChar char="⚬"/>
            </a:pPr>
            <a:r>
              <a:rPr lang="en-US" sz="2320" spc="25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Input validation and real-time error handling</a:t>
            </a:r>
          </a:p>
          <a:p>
            <a:pPr algn="l">
              <a:lnSpc>
                <a:spcPts val="3248"/>
              </a:lnSpc>
            </a:pPr>
          </a:p>
          <a:p>
            <a:pPr algn="l" marL="500915" indent="-250458" lvl="1">
              <a:lnSpc>
                <a:spcPts val="3248"/>
              </a:lnSpc>
              <a:buFont typeface="Arial"/>
              <a:buChar char="•"/>
            </a:pPr>
            <a:r>
              <a:rPr lang="en-US" sz="2320" spc="25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Incorporated UI/UX principles for clarity and ease of use:</a:t>
            </a:r>
          </a:p>
          <a:p>
            <a:pPr algn="l" marL="1001831" indent="-333944" lvl="2">
              <a:lnSpc>
                <a:spcPts val="3248"/>
              </a:lnSpc>
              <a:buFont typeface="Arial"/>
              <a:buChar char="⚬"/>
            </a:pPr>
            <a:r>
              <a:rPr lang="en-US" sz="2320" spc="25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Clear success and error messages</a:t>
            </a:r>
          </a:p>
          <a:p>
            <a:pPr algn="l" marL="1001831" indent="-333944" lvl="2">
              <a:lnSpc>
                <a:spcPts val="3248"/>
              </a:lnSpc>
              <a:buFont typeface="Arial"/>
              <a:buChar char="⚬"/>
            </a:pPr>
            <a:r>
              <a:rPr lang="en-US" sz="2320" spc="25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Real-time feedback during computation</a:t>
            </a:r>
          </a:p>
          <a:p>
            <a:pPr algn="l">
              <a:lnSpc>
                <a:spcPts val="3248"/>
              </a:lnSpc>
            </a:pPr>
          </a:p>
          <a:p>
            <a:pPr algn="l" marL="500915" indent="-250458" lvl="1">
              <a:lnSpc>
                <a:spcPts val="3248"/>
              </a:lnSpc>
              <a:buFont typeface="Arial"/>
              <a:buChar char="•"/>
            </a:pPr>
            <a:r>
              <a:rPr lang="en-US" sz="2320" spc="25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20" spc="25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The simulator allows users to visualize key generation, message signing, and signature    verification in real time.</a:t>
            </a:r>
          </a:p>
          <a:p>
            <a:pPr algn="l" marL="500915" indent="-250458" lvl="1">
              <a:lnSpc>
                <a:spcPts val="3248"/>
              </a:lnSpc>
              <a:buFont typeface="Arial"/>
              <a:buChar char="•"/>
            </a:pPr>
            <a:r>
              <a:rPr lang="en-US" sz="2320" spc="25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Overall, the tech stack ensures cryptographic accuracy, frontend efficiency, and an intuitive educational interface.</a:t>
            </a:r>
          </a:p>
          <a:p>
            <a:pPr algn="l">
              <a:lnSpc>
                <a:spcPts val="3248"/>
              </a:lnSpc>
            </a:pPr>
          </a:p>
          <a:p>
            <a:pPr algn="l">
              <a:lnSpc>
                <a:spcPts val="3248"/>
              </a:lnSpc>
            </a:pPr>
          </a:p>
          <a:p>
            <a:pPr algn="l">
              <a:lnSpc>
                <a:spcPts val="3248"/>
              </a:lnSpc>
            </a:pPr>
          </a:p>
          <a:p>
            <a:pPr algn="l">
              <a:lnSpc>
                <a:spcPts val="3248"/>
              </a:lnSpc>
            </a:pPr>
          </a:p>
          <a:p>
            <a:pPr algn="l">
              <a:lnSpc>
                <a:spcPts val="3248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578604" y="-504558"/>
            <a:ext cx="4655703" cy="3673773"/>
          </a:xfrm>
          <a:custGeom>
            <a:avLst/>
            <a:gdLst/>
            <a:ahLst/>
            <a:cxnLst/>
            <a:rect r="r" b="b" t="t" l="l"/>
            <a:pathLst>
              <a:path h="3673773" w="4655703">
                <a:moveTo>
                  <a:pt x="0" y="0"/>
                </a:moveTo>
                <a:lnTo>
                  <a:pt x="4655702" y="0"/>
                </a:lnTo>
                <a:lnTo>
                  <a:pt x="4655702" y="3673772"/>
                </a:lnTo>
                <a:lnTo>
                  <a:pt x="0" y="3673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470522" y="8150925"/>
            <a:ext cx="3320409" cy="2214751"/>
          </a:xfrm>
          <a:custGeom>
            <a:avLst/>
            <a:gdLst/>
            <a:ahLst/>
            <a:cxnLst/>
            <a:rect r="r" b="b" t="t" l="l"/>
            <a:pathLst>
              <a:path h="2214751" w="3320409">
                <a:moveTo>
                  <a:pt x="3320409" y="0"/>
                </a:moveTo>
                <a:lnTo>
                  <a:pt x="0" y="0"/>
                </a:lnTo>
                <a:lnTo>
                  <a:pt x="0" y="2214750"/>
                </a:lnTo>
                <a:lnTo>
                  <a:pt x="3320409" y="2214750"/>
                </a:lnTo>
                <a:lnTo>
                  <a:pt x="33204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30786" y="242479"/>
            <a:ext cx="10659915" cy="217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6"/>
              </a:lnSpc>
            </a:pPr>
            <a:r>
              <a:rPr lang="en-US" sz="5779" b="true">
                <a:solidFill>
                  <a:srgbClr val="1E396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 are the golden rules</a:t>
            </a:r>
          </a:p>
          <a:p>
            <a:pPr algn="ctr">
              <a:lnSpc>
                <a:spcPts val="5606"/>
              </a:lnSpc>
            </a:pPr>
            <a:r>
              <a:rPr lang="en-US" sz="5779" b="true">
                <a:solidFill>
                  <a:srgbClr val="1E396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implemented in the project</a:t>
            </a:r>
          </a:p>
          <a:p>
            <a:pPr algn="ctr">
              <a:lnSpc>
                <a:spcPts val="5606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398929" y="2045855"/>
            <a:ext cx="10390382" cy="944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003" indent="-306501" lvl="1">
              <a:lnSpc>
                <a:spcPts val="3975"/>
              </a:lnSpc>
              <a:buAutoNum type="arabicPeriod" startAt="1"/>
            </a:pPr>
            <a:r>
              <a:rPr lang="en-US" b="true" sz="2839" spc="31">
                <a:solidFill>
                  <a:srgbClr val="1E396E"/>
                </a:solidFill>
                <a:latin typeface="Raleway Bold"/>
                <a:ea typeface="Raleway Bold"/>
                <a:cs typeface="Raleway Bold"/>
                <a:sym typeface="Raleway Bold"/>
              </a:rPr>
              <a:t>Strive for Consistency</a:t>
            </a:r>
          </a:p>
          <a:p>
            <a:pPr algn="l" marL="569824" indent="-284912" lvl="1">
              <a:lnSpc>
                <a:spcPts val="3695"/>
              </a:lnSpc>
              <a:buFont typeface="Arial"/>
              <a:buChar char="•"/>
            </a:pPr>
            <a:r>
              <a:rPr lang="en-US" sz="2639" spc="29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The interface follows a uniform color scheme, font style, and button design throughout the DSA and Schnorr sections.</a:t>
            </a:r>
          </a:p>
          <a:p>
            <a:pPr algn="l" marL="569824" indent="-284912" lvl="1">
              <a:lnSpc>
                <a:spcPts val="3695"/>
              </a:lnSpc>
              <a:buFont typeface="Arial"/>
              <a:buChar char="•"/>
            </a:pPr>
            <a:r>
              <a:rPr lang="en-US" sz="2639" spc="29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Both modules share the same layout structure, making navigation predictable and smooth.</a:t>
            </a:r>
          </a:p>
          <a:p>
            <a:pPr algn="l">
              <a:lnSpc>
                <a:spcPts val="3695"/>
              </a:lnSpc>
            </a:pPr>
          </a:p>
          <a:p>
            <a:pPr algn="l">
              <a:lnSpc>
                <a:spcPts val="3975"/>
              </a:lnSpc>
            </a:pPr>
            <a:r>
              <a:rPr lang="en-US" sz="2839" spc="31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   </a:t>
            </a:r>
            <a:r>
              <a:rPr lang="en-US" sz="2839" spc="31" b="true">
                <a:solidFill>
                  <a:srgbClr val="1E396E"/>
                </a:solidFill>
                <a:latin typeface="Raleway Bold"/>
                <a:ea typeface="Raleway Bold"/>
                <a:cs typeface="Raleway Bold"/>
                <a:sym typeface="Raleway Bold"/>
              </a:rPr>
              <a:t>2.</a:t>
            </a:r>
            <a:r>
              <a:rPr lang="en-US" sz="2839" spc="31" b="true">
                <a:solidFill>
                  <a:srgbClr val="1E396E"/>
                </a:solidFill>
                <a:latin typeface="Raleway Bold"/>
                <a:ea typeface="Raleway Bold"/>
                <a:cs typeface="Raleway Bold"/>
                <a:sym typeface="Raleway Bold"/>
              </a:rPr>
              <a:t>Enable Frequent Users to Use Shortcuts</a:t>
            </a:r>
          </a:p>
          <a:p>
            <a:pPr algn="l" marL="569824" indent="-284912" lvl="1">
              <a:lnSpc>
                <a:spcPts val="3695"/>
              </a:lnSpc>
              <a:buFont typeface="Arial"/>
              <a:buChar char="•"/>
            </a:pPr>
            <a:r>
              <a:rPr lang="en-US" sz="2639" spc="29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Keyboard shortcuts (Alt + 1 to Alt + 6) allow experienced users to perform actions like key generation or verification quickly, improving efficiency.</a:t>
            </a:r>
          </a:p>
          <a:p>
            <a:pPr algn="l">
              <a:lnSpc>
                <a:spcPts val="3695"/>
              </a:lnSpc>
            </a:pPr>
          </a:p>
          <a:p>
            <a:pPr algn="l">
              <a:lnSpc>
                <a:spcPts val="3975"/>
              </a:lnSpc>
            </a:pPr>
            <a:r>
              <a:rPr lang="en-US" sz="2839" spc="31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  </a:t>
            </a:r>
            <a:r>
              <a:rPr lang="en-US" sz="2839" spc="31" b="true">
                <a:solidFill>
                  <a:srgbClr val="1E396E"/>
                </a:solidFill>
                <a:latin typeface="Raleway Bold"/>
                <a:ea typeface="Raleway Bold"/>
                <a:cs typeface="Raleway Bold"/>
                <a:sym typeface="Raleway Bold"/>
              </a:rPr>
              <a:t>3.</a:t>
            </a:r>
            <a:r>
              <a:rPr lang="en-US" sz="2839" spc="31" b="true">
                <a:solidFill>
                  <a:srgbClr val="1E396E"/>
                </a:solidFill>
                <a:latin typeface="Raleway Bold"/>
                <a:ea typeface="Raleway Bold"/>
                <a:cs typeface="Raleway Bold"/>
                <a:sym typeface="Raleway Bold"/>
              </a:rPr>
              <a:t>Offer Informative Feedback</a:t>
            </a:r>
          </a:p>
          <a:p>
            <a:pPr algn="l" marL="569824" indent="-284912" lvl="1">
              <a:lnSpc>
                <a:spcPts val="3695"/>
              </a:lnSpc>
              <a:buFont typeface="Arial"/>
              <a:buChar char="•"/>
            </a:pPr>
            <a:r>
              <a:rPr lang="en-US" sz="2639" spc="29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The outputResult() function provides real-time feedback for every operation.</a:t>
            </a:r>
          </a:p>
          <a:p>
            <a:pPr algn="l" marL="569824" indent="-284912" lvl="1">
              <a:lnSpc>
                <a:spcPts val="3695"/>
              </a:lnSpc>
              <a:buFont typeface="Arial"/>
              <a:buChar char="•"/>
            </a:pPr>
            <a:r>
              <a:rPr lang="en-US" sz="2639" spc="29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Success and error messages are displayed instantly with color-coded highlights for clarity.</a:t>
            </a:r>
          </a:p>
          <a:p>
            <a:pPr algn="l">
              <a:lnSpc>
                <a:spcPts val="3695"/>
              </a:lnSpc>
            </a:pPr>
          </a:p>
          <a:p>
            <a:pPr algn="l">
              <a:lnSpc>
                <a:spcPts val="3695"/>
              </a:lnSpc>
            </a:pPr>
          </a:p>
          <a:p>
            <a:pPr algn="l">
              <a:lnSpc>
                <a:spcPts val="3695"/>
              </a:lnSpc>
            </a:pPr>
            <a:r>
              <a:rPr lang="en-US" sz="2639" spc="29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l">
              <a:lnSpc>
                <a:spcPts val="369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578604" y="-504558"/>
            <a:ext cx="5109390" cy="4031773"/>
          </a:xfrm>
          <a:custGeom>
            <a:avLst/>
            <a:gdLst/>
            <a:ahLst/>
            <a:cxnLst/>
            <a:rect r="r" b="b" t="t" l="l"/>
            <a:pathLst>
              <a:path h="4031773" w="5109390">
                <a:moveTo>
                  <a:pt x="0" y="0"/>
                </a:moveTo>
                <a:lnTo>
                  <a:pt x="5109390" y="0"/>
                </a:lnTo>
                <a:lnTo>
                  <a:pt x="5109390" y="4031773"/>
                </a:lnTo>
                <a:lnTo>
                  <a:pt x="0" y="4031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5465" y="-694818"/>
            <a:ext cx="4227516" cy="4346044"/>
          </a:xfrm>
          <a:custGeom>
            <a:avLst/>
            <a:gdLst/>
            <a:ahLst/>
            <a:cxnLst/>
            <a:rect r="r" b="b" t="t" l="l"/>
            <a:pathLst>
              <a:path h="4346044" w="4227516">
                <a:moveTo>
                  <a:pt x="0" y="0"/>
                </a:moveTo>
                <a:lnTo>
                  <a:pt x="4227516" y="0"/>
                </a:lnTo>
                <a:lnTo>
                  <a:pt x="4227516" y="4346045"/>
                </a:lnTo>
                <a:lnTo>
                  <a:pt x="0" y="43460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429037" y="7725038"/>
            <a:ext cx="5272220" cy="3516631"/>
          </a:xfrm>
          <a:custGeom>
            <a:avLst/>
            <a:gdLst/>
            <a:ahLst/>
            <a:cxnLst/>
            <a:rect r="r" b="b" t="t" l="l"/>
            <a:pathLst>
              <a:path h="3516631" w="5272220">
                <a:moveTo>
                  <a:pt x="5272220" y="0"/>
                </a:moveTo>
                <a:lnTo>
                  <a:pt x="0" y="0"/>
                </a:lnTo>
                <a:lnTo>
                  <a:pt x="0" y="3516631"/>
                </a:lnTo>
                <a:lnTo>
                  <a:pt x="5272220" y="3516631"/>
                </a:lnTo>
                <a:lnTo>
                  <a:pt x="527222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61294" y="8637565"/>
            <a:ext cx="8924733" cy="2442684"/>
          </a:xfrm>
          <a:custGeom>
            <a:avLst/>
            <a:gdLst/>
            <a:ahLst/>
            <a:cxnLst/>
            <a:rect r="r" b="b" t="t" l="l"/>
            <a:pathLst>
              <a:path h="2442684" w="8924733">
                <a:moveTo>
                  <a:pt x="0" y="0"/>
                </a:moveTo>
                <a:lnTo>
                  <a:pt x="8924733" y="0"/>
                </a:lnTo>
                <a:lnTo>
                  <a:pt x="8924733" y="2442684"/>
                </a:lnTo>
                <a:lnTo>
                  <a:pt x="0" y="24426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06409" y="167712"/>
            <a:ext cx="12013472" cy="1029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542" spc="27" b="true">
                <a:solidFill>
                  <a:srgbClr val="1E396E"/>
                </a:solidFill>
                <a:latin typeface="Raleway Bold"/>
                <a:ea typeface="Raleway Bold"/>
                <a:cs typeface="Raleway Bold"/>
                <a:sym typeface="Raleway Bold"/>
              </a:rPr>
              <a:t>4.Design Dialogs to Yield Closure</a:t>
            </a:r>
          </a:p>
          <a:p>
            <a:pPr algn="l" marL="548974" indent="-274487" lvl="1">
              <a:lnSpc>
                <a:spcPts val="3559"/>
              </a:lnSpc>
              <a:buFont typeface="Arial"/>
              <a:buChar char="•"/>
            </a:pPr>
            <a:r>
              <a:rPr lang="en-US" sz="2542" spc="27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Each step (Key Generation → Signing → Verification) produces a clear completion message such as “Signature is VALID”, giving users closure and confidence that the process is complete.</a:t>
            </a:r>
          </a:p>
          <a:p>
            <a:pPr algn="l">
              <a:lnSpc>
                <a:spcPts val="3559"/>
              </a:lnSpc>
            </a:pPr>
            <a:r>
              <a:rPr lang="en-US" sz="2542" spc="27" b="true">
                <a:solidFill>
                  <a:srgbClr val="1E396E"/>
                </a:solidFill>
                <a:latin typeface="Raleway Bold"/>
                <a:ea typeface="Raleway Bold"/>
                <a:cs typeface="Raleway Bold"/>
                <a:sym typeface="Raleway Bold"/>
              </a:rPr>
              <a:t>5</a:t>
            </a:r>
            <a:r>
              <a:rPr lang="en-US" sz="2542" spc="27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r>
              <a:rPr lang="en-US" sz="2542" spc="27" b="true">
                <a:solidFill>
                  <a:srgbClr val="1E396E"/>
                </a:solidFill>
                <a:latin typeface="Raleway Bold"/>
                <a:ea typeface="Raleway Bold"/>
                <a:cs typeface="Raleway Bold"/>
                <a:sym typeface="Raleway Bold"/>
              </a:rPr>
              <a:t>Offer Error Prevention and Handling</a:t>
            </a:r>
          </a:p>
          <a:p>
            <a:pPr algn="l" marL="548974" indent="-274487" lvl="1">
              <a:lnSpc>
                <a:spcPts val="3559"/>
              </a:lnSpc>
              <a:buFont typeface="Arial"/>
              <a:buChar char="•"/>
            </a:pPr>
            <a:r>
              <a:rPr lang="en-US" sz="2542" spc="27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The code validates inputs (e.g., checking if p and q are prime or if values are in valid ranges).</a:t>
            </a:r>
          </a:p>
          <a:p>
            <a:pPr algn="l" marL="548974" indent="-274487" lvl="1">
              <a:lnSpc>
                <a:spcPts val="3559"/>
              </a:lnSpc>
              <a:buFont typeface="Arial"/>
              <a:buChar char="•"/>
            </a:pPr>
            <a:r>
              <a:rPr lang="en-US" sz="2542" spc="27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If any condition fails, the program displays descriptive error messages instead of breaking execution.</a:t>
            </a:r>
          </a:p>
          <a:p>
            <a:pPr algn="l">
              <a:lnSpc>
                <a:spcPts val="3559"/>
              </a:lnSpc>
            </a:pPr>
            <a:r>
              <a:rPr lang="en-US" sz="2542" spc="27" b="true">
                <a:solidFill>
                  <a:srgbClr val="1E396E"/>
                </a:solidFill>
                <a:latin typeface="Raleway Bold"/>
                <a:ea typeface="Raleway Bold"/>
                <a:cs typeface="Raleway Bold"/>
                <a:sym typeface="Raleway Bold"/>
              </a:rPr>
              <a:t>6</a:t>
            </a:r>
            <a:r>
              <a:rPr lang="en-US" sz="2542" spc="27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r>
              <a:rPr lang="en-US" sz="2542" spc="27" b="true">
                <a:solidFill>
                  <a:srgbClr val="1E396E"/>
                </a:solidFill>
                <a:latin typeface="Raleway Bold"/>
                <a:ea typeface="Raleway Bold"/>
                <a:cs typeface="Raleway Bold"/>
                <a:sym typeface="Raleway Bold"/>
              </a:rPr>
              <a:t>Permit Easy Reversal of Actions</a:t>
            </a:r>
          </a:p>
          <a:p>
            <a:pPr algn="l" marL="548974" indent="-274487" lvl="1">
              <a:lnSpc>
                <a:spcPts val="3559"/>
              </a:lnSpc>
              <a:buFont typeface="Arial"/>
              <a:buChar char="•"/>
            </a:pPr>
            <a:r>
              <a:rPr lang="en-US" sz="2542" spc="27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Dedicated Reset buttons and reset() functions in both simulators allow users to easily clear data and restart the process from scratch.</a:t>
            </a:r>
          </a:p>
          <a:p>
            <a:pPr algn="l">
              <a:lnSpc>
                <a:spcPts val="3559"/>
              </a:lnSpc>
            </a:pPr>
            <a:r>
              <a:rPr lang="en-US" sz="2542" spc="27" b="true">
                <a:solidFill>
                  <a:srgbClr val="1E396E"/>
                </a:solidFill>
                <a:latin typeface="Raleway Bold"/>
                <a:ea typeface="Raleway Bold"/>
                <a:cs typeface="Raleway Bold"/>
                <a:sym typeface="Raleway Bold"/>
              </a:rPr>
              <a:t>7</a:t>
            </a:r>
            <a:r>
              <a:rPr lang="en-US" sz="2542" spc="27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r>
              <a:rPr lang="en-US" sz="2542" spc="27" b="true">
                <a:solidFill>
                  <a:srgbClr val="1E396E"/>
                </a:solidFill>
                <a:latin typeface="Raleway Bold"/>
                <a:ea typeface="Raleway Bold"/>
                <a:cs typeface="Raleway Bold"/>
                <a:sym typeface="Raleway Bold"/>
              </a:rPr>
              <a:t>Keep Users in Control</a:t>
            </a:r>
          </a:p>
          <a:p>
            <a:pPr algn="l" marL="548974" indent="-274487" lvl="1">
              <a:lnSpc>
                <a:spcPts val="3559"/>
              </a:lnSpc>
              <a:buFont typeface="Arial"/>
              <a:buChar char="•"/>
            </a:pPr>
            <a:r>
              <a:rPr lang="en-US" sz="2542" spc="27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Users decide when to generate keys, sign messages, or verify signatures — no automatic actions occur without user input.</a:t>
            </a:r>
          </a:p>
          <a:p>
            <a:pPr algn="l" marL="548974" indent="-274487" lvl="1">
              <a:lnSpc>
                <a:spcPts val="3559"/>
              </a:lnSpc>
              <a:buFont typeface="Arial"/>
              <a:buChar char="•"/>
            </a:pPr>
            <a:r>
              <a:rPr lang="en-US" sz="2542" spc="27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Each function is triggered manually, ensuring users remain in full control of the workflow.</a:t>
            </a:r>
          </a:p>
          <a:p>
            <a:pPr algn="l">
              <a:lnSpc>
                <a:spcPts val="3559"/>
              </a:lnSpc>
            </a:pPr>
            <a:r>
              <a:rPr lang="en-US" sz="2542" spc="27" b="true">
                <a:solidFill>
                  <a:srgbClr val="1E396E"/>
                </a:solidFill>
                <a:latin typeface="Raleway Bold"/>
                <a:ea typeface="Raleway Bold"/>
                <a:cs typeface="Raleway Bold"/>
                <a:sym typeface="Raleway Bold"/>
              </a:rPr>
              <a:t>8.Reduce Short-Term Memory Load</a:t>
            </a:r>
          </a:p>
          <a:p>
            <a:pPr algn="l" marL="548974" indent="-274487" lvl="1">
              <a:lnSpc>
                <a:spcPts val="3559"/>
              </a:lnSpc>
              <a:buFont typeface="Arial"/>
              <a:buChar char="•"/>
            </a:pPr>
            <a:r>
              <a:rPr lang="en-US" sz="2542" spc="27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Input labels and grouped sections minimize the need to remember parameters or steps.</a:t>
            </a:r>
          </a:p>
          <a:p>
            <a:pPr algn="l" marL="548974" indent="-274487" lvl="1">
              <a:lnSpc>
                <a:spcPts val="3559"/>
              </a:lnSpc>
              <a:buFont typeface="Arial"/>
              <a:buChar char="•"/>
            </a:pPr>
            <a:r>
              <a:rPr lang="en-US" sz="2542" spc="27">
                <a:solidFill>
                  <a:srgbClr val="1E396E"/>
                </a:solidFill>
                <a:latin typeface="Raleway"/>
                <a:ea typeface="Raleway"/>
                <a:cs typeface="Raleway"/>
                <a:sym typeface="Raleway"/>
              </a:rPr>
              <a:t>Each algorithm’s interface is self-contained, allowing users to focus on one task at a time.</a:t>
            </a:r>
          </a:p>
          <a:p>
            <a:pPr algn="l">
              <a:lnSpc>
                <a:spcPts val="355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578604" y="-504558"/>
            <a:ext cx="4507516" cy="3556840"/>
          </a:xfrm>
          <a:custGeom>
            <a:avLst/>
            <a:gdLst/>
            <a:ahLst/>
            <a:cxnLst/>
            <a:rect r="r" b="b" t="t" l="l"/>
            <a:pathLst>
              <a:path h="3556840" w="4507516">
                <a:moveTo>
                  <a:pt x="0" y="0"/>
                </a:moveTo>
                <a:lnTo>
                  <a:pt x="4507516" y="0"/>
                </a:lnTo>
                <a:lnTo>
                  <a:pt x="4507516" y="3556840"/>
                </a:lnTo>
                <a:lnTo>
                  <a:pt x="0" y="3556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12406" y="-504558"/>
            <a:ext cx="4227516" cy="4346044"/>
          </a:xfrm>
          <a:custGeom>
            <a:avLst/>
            <a:gdLst/>
            <a:ahLst/>
            <a:cxnLst/>
            <a:rect r="r" b="b" t="t" l="l"/>
            <a:pathLst>
              <a:path h="4346044" w="4227516">
                <a:moveTo>
                  <a:pt x="0" y="0"/>
                </a:moveTo>
                <a:lnTo>
                  <a:pt x="4227516" y="0"/>
                </a:lnTo>
                <a:lnTo>
                  <a:pt x="4227516" y="4346044"/>
                </a:lnTo>
                <a:lnTo>
                  <a:pt x="0" y="43460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70794" y="7499985"/>
            <a:ext cx="5272220" cy="3516631"/>
          </a:xfrm>
          <a:custGeom>
            <a:avLst/>
            <a:gdLst/>
            <a:ahLst/>
            <a:cxnLst/>
            <a:rect r="r" b="b" t="t" l="l"/>
            <a:pathLst>
              <a:path h="3516631" w="5272220">
                <a:moveTo>
                  <a:pt x="5272220" y="0"/>
                </a:moveTo>
                <a:lnTo>
                  <a:pt x="0" y="0"/>
                </a:lnTo>
                <a:lnTo>
                  <a:pt x="0" y="3516630"/>
                </a:lnTo>
                <a:lnTo>
                  <a:pt x="5272220" y="3516630"/>
                </a:lnTo>
                <a:lnTo>
                  <a:pt x="527222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78604" y="-504558"/>
            <a:ext cx="3522601" cy="2779653"/>
          </a:xfrm>
          <a:custGeom>
            <a:avLst/>
            <a:gdLst/>
            <a:ahLst/>
            <a:cxnLst/>
            <a:rect r="r" b="b" t="t" l="l"/>
            <a:pathLst>
              <a:path h="2779653" w="3522601">
                <a:moveTo>
                  <a:pt x="0" y="0"/>
                </a:moveTo>
                <a:lnTo>
                  <a:pt x="3522601" y="0"/>
                </a:lnTo>
                <a:lnTo>
                  <a:pt x="3522601" y="2779652"/>
                </a:lnTo>
                <a:lnTo>
                  <a:pt x="0" y="2779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5465" y="-694818"/>
            <a:ext cx="4227516" cy="4346044"/>
          </a:xfrm>
          <a:custGeom>
            <a:avLst/>
            <a:gdLst/>
            <a:ahLst/>
            <a:cxnLst/>
            <a:rect r="r" b="b" t="t" l="l"/>
            <a:pathLst>
              <a:path h="4346044" w="4227516">
                <a:moveTo>
                  <a:pt x="0" y="0"/>
                </a:moveTo>
                <a:lnTo>
                  <a:pt x="4227516" y="0"/>
                </a:lnTo>
                <a:lnTo>
                  <a:pt x="4227516" y="4346045"/>
                </a:lnTo>
                <a:lnTo>
                  <a:pt x="0" y="43460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502169" y="8528685"/>
            <a:ext cx="5272220" cy="3516631"/>
          </a:xfrm>
          <a:custGeom>
            <a:avLst/>
            <a:gdLst/>
            <a:ahLst/>
            <a:cxnLst/>
            <a:rect r="r" b="b" t="t" l="l"/>
            <a:pathLst>
              <a:path h="3516631" w="5272220">
                <a:moveTo>
                  <a:pt x="5272220" y="0"/>
                </a:moveTo>
                <a:lnTo>
                  <a:pt x="0" y="0"/>
                </a:lnTo>
                <a:lnTo>
                  <a:pt x="0" y="3516630"/>
                </a:lnTo>
                <a:lnTo>
                  <a:pt x="5272220" y="3516630"/>
                </a:lnTo>
                <a:lnTo>
                  <a:pt x="527222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2696" y="2863782"/>
            <a:ext cx="7472032" cy="5076215"/>
          </a:xfrm>
          <a:custGeom>
            <a:avLst/>
            <a:gdLst/>
            <a:ahLst/>
            <a:cxnLst/>
            <a:rect r="r" b="b" t="t" l="l"/>
            <a:pathLst>
              <a:path h="5076215" w="7472032">
                <a:moveTo>
                  <a:pt x="0" y="0"/>
                </a:moveTo>
                <a:lnTo>
                  <a:pt x="7472033" y="0"/>
                </a:lnTo>
                <a:lnTo>
                  <a:pt x="7472033" y="5076215"/>
                </a:lnTo>
                <a:lnTo>
                  <a:pt x="0" y="50762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868" r="-2966" b="-86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96626" y="3253816"/>
            <a:ext cx="9793321" cy="5664903"/>
          </a:xfrm>
          <a:custGeom>
            <a:avLst/>
            <a:gdLst/>
            <a:ahLst/>
            <a:cxnLst/>
            <a:rect r="r" b="b" t="t" l="l"/>
            <a:pathLst>
              <a:path h="5664903" w="9793321">
                <a:moveTo>
                  <a:pt x="0" y="0"/>
                </a:moveTo>
                <a:lnTo>
                  <a:pt x="9793321" y="0"/>
                </a:lnTo>
                <a:lnTo>
                  <a:pt x="9793321" y="5664902"/>
                </a:lnTo>
                <a:lnTo>
                  <a:pt x="0" y="56649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74" t="0" r="-7143" b="-343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50180" y="207411"/>
            <a:ext cx="9609257" cy="130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5209" b="true">
                <a:solidFill>
                  <a:srgbClr val="1E396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screenshots of implementation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88660" y="-1020029"/>
            <a:ext cx="3522601" cy="2779653"/>
          </a:xfrm>
          <a:custGeom>
            <a:avLst/>
            <a:gdLst/>
            <a:ahLst/>
            <a:cxnLst/>
            <a:rect r="r" b="b" t="t" l="l"/>
            <a:pathLst>
              <a:path h="2779653" w="3522601">
                <a:moveTo>
                  <a:pt x="0" y="0"/>
                </a:moveTo>
                <a:lnTo>
                  <a:pt x="3522601" y="0"/>
                </a:lnTo>
                <a:lnTo>
                  <a:pt x="3522601" y="2779653"/>
                </a:lnTo>
                <a:lnTo>
                  <a:pt x="0" y="2779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5465" y="-694818"/>
            <a:ext cx="4227516" cy="4346044"/>
          </a:xfrm>
          <a:custGeom>
            <a:avLst/>
            <a:gdLst/>
            <a:ahLst/>
            <a:cxnLst/>
            <a:rect r="r" b="b" t="t" l="l"/>
            <a:pathLst>
              <a:path h="4346044" w="4227516">
                <a:moveTo>
                  <a:pt x="0" y="0"/>
                </a:moveTo>
                <a:lnTo>
                  <a:pt x="4227516" y="0"/>
                </a:lnTo>
                <a:lnTo>
                  <a:pt x="4227516" y="4346045"/>
                </a:lnTo>
                <a:lnTo>
                  <a:pt x="0" y="43460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502169" y="8528685"/>
            <a:ext cx="5272220" cy="3516631"/>
          </a:xfrm>
          <a:custGeom>
            <a:avLst/>
            <a:gdLst/>
            <a:ahLst/>
            <a:cxnLst/>
            <a:rect r="r" b="b" t="t" l="l"/>
            <a:pathLst>
              <a:path h="3516631" w="5272220">
                <a:moveTo>
                  <a:pt x="5272220" y="0"/>
                </a:moveTo>
                <a:lnTo>
                  <a:pt x="0" y="0"/>
                </a:lnTo>
                <a:lnTo>
                  <a:pt x="0" y="3516630"/>
                </a:lnTo>
                <a:lnTo>
                  <a:pt x="5272220" y="3516630"/>
                </a:lnTo>
                <a:lnTo>
                  <a:pt x="527222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1435" y="2245399"/>
            <a:ext cx="8917234" cy="5796202"/>
          </a:xfrm>
          <a:custGeom>
            <a:avLst/>
            <a:gdLst/>
            <a:ahLst/>
            <a:cxnLst/>
            <a:rect r="r" b="b" t="t" l="l"/>
            <a:pathLst>
              <a:path h="5796202" w="8917234">
                <a:moveTo>
                  <a:pt x="0" y="0"/>
                </a:moveTo>
                <a:lnTo>
                  <a:pt x="8917233" y="0"/>
                </a:lnTo>
                <a:lnTo>
                  <a:pt x="8917233" y="5796202"/>
                </a:lnTo>
                <a:lnTo>
                  <a:pt x="0" y="57962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67175" y="3942037"/>
            <a:ext cx="8515835" cy="5796202"/>
          </a:xfrm>
          <a:custGeom>
            <a:avLst/>
            <a:gdLst/>
            <a:ahLst/>
            <a:cxnLst/>
            <a:rect r="r" b="b" t="t" l="l"/>
            <a:pathLst>
              <a:path h="5796202" w="8515835">
                <a:moveTo>
                  <a:pt x="0" y="0"/>
                </a:moveTo>
                <a:lnTo>
                  <a:pt x="8515835" y="0"/>
                </a:lnTo>
                <a:lnTo>
                  <a:pt x="8515835" y="5796202"/>
                </a:lnTo>
                <a:lnTo>
                  <a:pt x="0" y="57962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119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50180" y="207411"/>
            <a:ext cx="9609257" cy="130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5209" b="true">
                <a:solidFill>
                  <a:srgbClr val="1E396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screenshots of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DAG4S76N9lY</dc:identifier>
  <dcterms:modified xsi:type="dcterms:W3CDTF">2011-08-01T06:04:30Z</dcterms:modified>
  <cp:revision>1</cp:revision>
  <dc:title>dss and schnorr signatures</dc:title>
</cp:coreProperties>
</file>